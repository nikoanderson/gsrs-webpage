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61" r:id="rId3"/>
    <p:sldId id="348" r:id="rId4"/>
    <p:sldId id="341" r:id="rId5"/>
    <p:sldId id="359" r:id="rId6"/>
    <p:sldId id="330" r:id="rId7"/>
    <p:sldId id="331" r:id="rId8"/>
    <p:sldId id="332" r:id="rId9"/>
    <p:sldId id="333" r:id="rId10"/>
    <p:sldId id="337" r:id="rId11"/>
    <p:sldId id="338" r:id="rId12"/>
    <p:sldId id="340" r:id="rId13"/>
    <p:sldId id="347" r:id="rId14"/>
    <p:sldId id="305" r:id="rId15"/>
    <p:sldId id="360" r:id="rId16"/>
    <p:sldId id="287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ines, Kimberly" initials="KWR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26" autoAdjust="0"/>
  </p:normalViewPr>
  <p:slideViewPr>
    <p:cSldViewPr snapToGrid="0" snapToObjects="1"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4F1F9-670B-4BD8-A79A-22FF1A005646}" type="datetimeFigureOut">
              <a:rPr lang="en-US" smtClean="0"/>
              <a:t>11/6/2018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88F4B-C8AB-4DED-82A3-6F6C06D43A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5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488F4B-C8AB-4DED-82A3-6F6C06D43A3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8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73606" y="6355260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8" name="Picture 7" descr="FDA_B&amp;W_Primary_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947" y="261425"/>
            <a:ext cx="2703422" cy="563312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</p:spTree>
    <p:extLst>
      <p:ext uri="{BB962C8B-B14F-4D97-AF65-F5344CB8AC3E}">
        <p14:creationId xmlns:p14="http://schemas.microsoft.com/office/powerpoint/2010/main" val="107369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49" y="1023679"/>
            <a:ext cx="8509103" cy="926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2009775"/>
            <a:ext cx="8509103" cy="42860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76650" y="6375400"/>
            <a:ext cx="2133600" cy="365125"/>
          </a:xfrm>
        </p:spPr>
        <p:txBody>
          <a:bodyPr/>
          <a:lstStyle>
            <a:lvl1pPr algn="ctr">
              <a:defRPr/>
            </a:lvl1pPr>
          </a:lstStyle>
          <a:p>
            <a:fld id="{A349544A-F1CD-3844-BFB3-6D230A0137DD}" type="datetimeFigureOut">
              <a:rPr lang="en-US" smtClean="0"/>
              <a:pPr/>
              <a:t>11/6/2018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765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pic>
        <p:nvPicPr>
          <p:cNvPr id="7" name="Picture 6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2954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762375" y="6334125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</p:spTree>
    <p:extLst>
      <p:ext uri="{BB962C8B-B14F-4D97-AF65-F5344CB8AC3E}">
        <p14:creationId xmlns:p14="http://schemas.microsoft.com/office/powerpoint/2010/main" val="38935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09834" y="6349336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7" name="Picture 6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69796"/>
            <a:ext cx="620543" cy="743080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4981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14307" y="6380336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8" name="Picture 7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8117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886200" y="6384925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10" name="Picture 9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045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596185" y="6391749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6" name="Picture 5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5055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65513" y="6349337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8" name="Picture 7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5013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19014" y="6384925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8" name="Picture 7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10" y="242500"/>
            <a:ext cx="620543" cy="7430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5104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5241" y="6356350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7" name="Picture 6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31470" y="5291167"/>
            <a:ext cx="620543" cy="7430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1161972" y="1451193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117044" y="637621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38449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0650" y="6354123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pic>
        <p:nvPicPr>
          <p:cNvPr id="9" name="Picture 8" descr="FDA_FullColor_Monogra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18888" y="5307876"/>
            <a:ext cx="620543" cy="74308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0432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DA_B&amp;W_Primary_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236" y="2648601"/>
            <a:ext cx="4198518" cy="8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4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596185" y="6391749"/>
            <a:ext cx="2133600" cy="365125"/>
          </a:xfrm>
        </p:spPr>
        <p:txBody>
          <a:bodyPr/>
          <a:lstStyle/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065" y="242500"/>
            <a:ext cx="619233" cy="743080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4925"/>
            <a:ext cx="2895600" cy="36512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547979" y="640977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42D067E6-6582-4AD4-8521-F7089C370E58}" type="slidenum">
              <a:rPr lang="en-US" sz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‹#›</a:t>
            </a:fld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1" y="1524255"/>
            <a:ext cx="8229600" cy="4779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57201" y="1371603"/>
            <a:ext cx="8229600" cy="457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9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9544A-F1CD-3844-BFB3-6D230A0137DD}" type="datetimeFigureOut">
              <a:rPr lang="en-US" smtClean="0"/>
              <a:t>11/6/2018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71F5F-C8AF-484B-B19A-A0CBCE8C77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0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125" y="1335820"/>
            <a:ext cx="8381310" cy="1494844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Modernizing Quality Assessment through Automation: </a:t>
            </a:r>
          </a:p>
          <a:p>
            <a:r>
              <a:rPr lang="en-US" sz="2800" b="1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ONDP/Division of Biopharmaceutics </a:t>
            </a:r>
          </a:p>
          <a:p>
            <a:r>
              <a:rPr lang="en-US" sz="2800" b="1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Automation Tool Application</a:t>
            </a:r>
            <a:endParaRPr lang="en-US" sz="2800" b="1" dirty="0">
              <a:solidFill>
                <a:schemeClr val="tx2"/>
              </a:solidFill>
              <a:latin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14"/>
          <p:cNvSpPr txBox="1">
            <a:spLocks/>
          </p:cNvSpPr>
          <p:nvPr/>
        </p:nvSpPr>
        <p:spPr>
          <a:xfrm>
            <a:off x="365125" y="3793633"/>
            <a:ext cx="8451850" cy="1722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Nov 16, 2018 </a:t>
            </a:r>
          </a:p>
          <a:p>
            <a:r>
              <a:rPr lang="en-US" altLang="en-US" sz="2400" dirty="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Ho-Pi Lin, Ph.D.</a:t>
            </a:r>
          </a:p>
          <a:p>
            <a:r>
              <a:rPr lang="en-US" altLang="en-US" sz="2000" dirty="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Division of Biopharmaceutics, Branch III</a:t>
            </a:r>
          </a:p>
          <a:p>
            <a:r>
              <a:rPr lang="en-US" altLang="en-US" sz="240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FDA/CDER/Office of Pharmaceutical Quality (OPQ)/</a:t>
            </a:r>
          </a:p>
          <a:p>
            <a:r>
              <a:rPr lang="en-US" altLang="en-US" sz="240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Office </a:t>
            </a:r>
            <a:r>
              <a:rPr lang="en-US" altLang="en-US" sz="2400" dirty="0">
                <a:solidFill>
                  <a:srgbClr val="004165"/>
                </a:solidFill>
                <a:latin typeface="Calibri" pitchFamily="34" charset="0"/>
                <a:cs typeface="Times New Roman" panose="02020603050405020304" pitchFamily="18" charset="0"/>
              </a:rPr>
              <a:t>of New Drug Products (ONDP)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4677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547552" y="1014112"/>
            <a:ext cx="8153400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Disclaimer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36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This presentation reflects the views of the presenter and should not be construed to represent FDA’s views or policies.</a:t>
            </a:r>
            <a:endParaRPr lang="en-US" altLang="en-US" sz="36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4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509000" cy="92551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Outline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5634" y="1219200"/>
            <a:ext cx="9038366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800" dirty="0"/>
              <a:t>Overview</a:t>
            </a:r>
            <a:r>
              <a:rPr lang="en-US" altLang="en-US" sz="2800">
                <a:solidFill>
                  <a:srgbClr val="7030A0"/>
                </a:solidFill>
              </a:rPr>
              <a:t>: </a:t>
            </a:r>
            <a:r>
              <a:rPr lang="en-US" altLang="en-US" sz="2800"/>
              <a:t>review </a:t>
            </a:r>
            <a:r>
              <a:rPr lang="en-US" altLang="en-US" sz="2800" dirty="0"/>
              <a:t>responsibilities </a:t>
            </a:r>
            <a:r>
              <a:rPr lang="en-US" altLang="en-US" sz="2800"/>
              <a:t>in the </a:t>
            </a:r>
            <a:r>
              <a:rPr lang="en-US" altLang="en-US" sz="2800" b="1" dirty="0"/>
              <a:t>Division of Biopharmaceutics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800" dirty="0"/>
              <a:t>Dissolution test and product quality assessment</a:t>
            </a:r>
            <a:endParaRPr lang="en-US" altLang="en-US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Automation tool for dissolution evaluation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Dissolution profiles comparison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Simulation to help assess dissolution acceptance criteria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Summary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Looking forward</a:t>
            </a:r>
          </a:p>
        </p:txBody>
      </p:sp>
    </p:spTree>
    <p:extLst>
      <p:ext uri="{BB962C8B-B14F-4D97-AF65-F5344CB8AC3E}">
        <p14:creationId xmlns:p14="http://schemas.microsoft.com/office/powerpoint/2010/main" val="327255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" y="162317"/>
            <a:ext cx="8593815" cy="1213810"/>
          </a:xfrm>
        </p:spPr>
        <p:txBody>
          <a:bodyPr>
            <a:normAutofit fontScale="90000"/>
          </a:bodyPr>
          <a:lstStyle/>
          <a:p>
            <a:r>
              <a:rPr lang="en-US"/>
              <a:t>FDA Pharmaceutical Quality </a:t>
            </a:r>
            <a:br>
              <a:rPr lang="en-US"/>
            </a:br>
            <a:r>
              <a:rPr lang="en-US"/>
              <a:t>One </a:t>
            </a:r>
            <a:r>
              <a:rPr lang="en-US" dirty="0"/>
              <a:t>Quality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1516" y="6509862"/>
            <a:ext cx="69188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Figure modified from: https://www.fda.gov/downloads/AboutFDA/CentersOffices/OfficeofMedicalProductsandTobacco/CDER/UCM442666.pdf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2707" y="3486339"/>
            <a:ext cx="1209856" cy="11413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7886" y="3095473"/>
            <a:ext cx="35211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Establishing:</a:t>
            </a:r>
          </a:p>
          <a:p>
            <a:r>
              <a:rPr lang="en-US" b="1" dirty="0"/>
              <a:t>Patient Focused Quality Standard</a:t>
            </a:r>
          </a:p>
          <a:p>
            <a:endParaRPr lang="en-US" b="1" dirty="0"/>
          </a:p>
          <a:p>
            <a:r>
              <a:rPr lang="en-US" dirty="0"/>
              <a:t>Finding:</a:t>
            </a:r>
          </a:p>
          <a:p>
            <a:r>
              <a:rPr lang="en-US" b="1" i="1" dirty="0"/>
              <a:t>In Vitro-In Vivo </a:t>
            </a:r>
            <a:r>
              <a:rPr lang="en-US" b="1" dirty="0"/>
              <a:t>Link for Pharmaceutical Manufacturing and Quality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06" y="1945387"/>
            <a:ext cx="4185813" cy="4221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/>
          <p:nvPr/>
        </p:nvSpPr>
        <p:spPr>
          <a:xfrm>
            <a:off x="3123445" y="2807380"/>
            <a:ext cx="6029608" cy="2588487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0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336" y="326411"/>
            <a:ext cx="8509103" cy="926020"/>
          </a:xfrm>
        </p:spPr>
        <p:txBody>
          <a:bodyPr>
            <a:noAutofit/>
          </a:bodyPr>
          <a:lstStyle/>
          <a:p>
            <a:r>
              <a:rPr lang="en-US" dirty="0"/>
              <a:t>Dissolution Test: </a:t>
            </a:r>
            <a:br>
              <a:rPr lang="en-US" dirty="0"/>
            </a:br>
            <a:r>
              <a:rPr lang="en-US" sz="4000" dirty="0"/>
              <a:t>Crucial in Product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3742" y="1446385"/>
            <a:ext cx="81196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/>
              <a:t>Applicable </a:t>
            </a:r>
            <a:r>
              <a:rPr lang="fr-FR" sz="2800" dirty="0"/>
              <a:t>to</a:t>
            </a:r>
            <a:r>
              <a:rPr lang="fr-FR" sz="2800" dirty="0">
                <a:solidFill>
                  <a:srgbClr val="7030A0"/>
                </a:solidFill>
              </a:rPr>
              <a:t> </a:t>
            </a:r>
            <a:r>
              <a:rPr lang="fr-FR" sz="2800" dirty="0"/>
              <a:t>multiple dosage forms: </a:t>
            </a:r>
          </a:p>
          <a:p>
            <a:r>
              <a:rPr lang="fr-FR" sz="2800" dirty="0"/>
              <a:t>	</a:t>
            </a:r>
            <a:r>
              <a:rPr lang="fr-FR" sz="2800" i="1" dirty="0"/>
              <a:t>Tablets, Capsules, Implants, Powders, inserts, 	suspensions, etc.</a:t>
            </a:r>
            <a:endParaRPr lang="fr-FR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459815"/>
              </p:ext>
            </p:extLst>
          </p:nvPr>
        </p:nvGraphicFramePr>
        <p:xfrm>
          <a:off x="633740" y="2947503"/>
          <a:ext cx="8128597" cy="342540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470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703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   Assessment involved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   Frequently used 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030">
                <a:tc>
                  <a:txBody>
                    <a:bodyPr/>
                    <a:lstStyle/>
                    <a:p>
                      <a:r>
                        <a:rPr lang="en-US" sz="2400" b="1" dirty="0"/>
                        <a:t>Dissolution profiles comparison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f2 testing</a:t>
                      </a:r>
                    </a:p>
                    <a:p>
                      <a:pPr lvl="0"/>
                      <a:r>
                        <a:rPr lang="en-US" dirty="0"/>
                        <a:t>    for highly variable dissolution: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Multivariate confidence region procedure (MVA Test)</a:t>
                      </a:r>
                    </a:p>
                    <a:p>
                      <a:pPr marL="742950" marR="0" lvl="1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f2 bootstrapping</a:t>
                      </a:r>
                    </a:p>
                    <a:p>
                      <a:pPr lvl="1"/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Pharmaceutical Development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Biowaivers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Interchangeability Evaluation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Scale-up and Post-Approval Changes (SUPAC)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582">
                <a:tc>
                  <a:txBody>
                    <a:bodyPr/>
                    <a:lstStyle/>
                    <a:p>
                      <a:r>
                        <a:rPr lang="en-US" sz="2400" b="1" dirty="0"/>
                        <a:t>Dissolution acceptance criteria</a:t>
                      </a:r>
                      <a:endParaRPr lang="en-US" sz="24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Routine Quality Control 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Stability Studies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34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09" y="1949699"/>
            <a:ext cx="813435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32" y="560669"/>
            <a:ext cx="8509103" cy="926020"/>
          </a:xfrm>
        </p:spPr>
        <p:txBody>
          <a:bodyPr>
            <a:normAutofit/>
          </a:bodyPr>
          <a:lstStyle/>
          <a:p>
            <a:r>
              <a:rPr lang="en-US" sz="3200" b="1" dirty="0"/>
              <a:t>Dissolution Profiles Comparison </a:t>
            </a:r>
          </a:p>
        </p:txBody>
      </p:sp>
      <p:sp>
        <p:nvSpPr>
          <p:cNvPr id="8" name="Oval 7"/>
          <p:cNvSpPr/>
          <p:nvPr/>
        </p:nvSpPr>
        <p:spPr>
          <a:xfrm>
            <a:off x="747423" y="3747365"/>
            <a:ext cx="993913" cy="48320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848201" y="4006009"/>
            <a:ext cx="1797269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5470" y="3845332"/>
            <a:ext cx="3182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Upload the dissolution data file</a:t>
            </a:r>
          </a:p>
        </p:txBody>
      </p:sp>
    </p:spTree>
    <p:extLst>
      <p:ext uri="{BB962C8B-B14F-4D97-AF65-F5344CB8AC3E}">
        <p14:creationId xmlns:p14="http://schemas.microsoft.com/office/powerpoint/2010/main" val="80526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27" y="283683"/>
            <a:ext cx="8509103" cy="926020"/>
          </a:xfrm>
        </p:spPr>
        <p:txBody>
          <a:bodyPr>
            <a:normAutofit/>
          </a:bodyPr>
          <a:lstStyle/>
          <a:p>
            <a:r>
              <a:rPr lang="en-US" sz="2800" b="1" dirty="0"/>
              <a:t>Dissolution data input in Excel spreadsheet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64" y="1628130"/>
            <a:ext cx="7076006" cy="354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46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96" y="1623710"/>
            <a:ext cx="8935770" cy="41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49" y="411428"/>
            <a:ext cx="8509103" cy="926020"/>
          </a:xfrm>
        </p:spPr>
        <p:txBody>
          <a:bodyPr>
            <a:normAutofit/>
          </a:bodyPr>
          <a:lstStyle/>
          <a:p>
            <a:r>
              <a:rPr lang="en-US" sz="3200" b="1" dirty="0"/>
              <a:t>Dissolution Profiles Comparison (Cont.)</a:t>
            </a:r>
            <a:br>
              <a:rPr lang="en-US" sz="3200" b="1" dirty="0"/>
            </a:br>
            <a:endParaRPr lang="en-US" sz="17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35526" y="4144308"/>
            <a:ext cx="2212380" cy="97823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896" y="3921984"/>
            <a:ext cx="3418853" cy="114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799" y="5135226"/>
            <a:ext cx="3291648" cy="111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13" y="3903989"/>
            <a:ext cx="2505949" cy="2437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le 17"/>
          <p:cNvSpPr/>
          <p:nvPr/>
        </p:nvSpPr>
        <p:spPr>
          <a:xfrm>
            <a:off x="2537981" y="3843898"/>
            <a:ext cx="2463582" cy="249719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Curved Connector 5"/>
          <p:cNvCxnSpPr/>
          <p:nvPr/>
        </p:nvCxnSpPr>
        <p:spPr>
          <a:xfrm rot="5400000" flipH="1" flipV="1">
            <a:off x="409298" y="2480047"/>
            <a:ext cx="3109359" cy="2687544"/>
          </a:xfrm>
          <a:prstGeom prst="curvedConnector3">
            <a:avLst>
              <a:gd name="adj1" fmla="val -122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287799" y="3921984"/>
            <a:ext cx="3402950" cy="12005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305032" y="5171622"/>
            <a:ext cx="3385717" cy="107453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63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397" y="4412474"/>
            <a:ext cx="5539427" cy="58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6754"/>
            <a:ext cx="3273853" cy="471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397" y="1470463"/>
            <a:ext cx="5670196" cy="194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1" y="136439"/>
            <a:ext cx="8509103" cy="926020"/>
          </a:xfrm>
        </p:spPr>
        <p:txBody>
          <a:bodyPr>
            <a:normAutofit/>
          </a:bodyPr>
          <a:lstStyle/>
          <a:p>
            <a:r>
              <a:rPr lang="en-US" sz="3200" b="1" dirty="0"/>
              <a:t>Dissolution Profiles Comparison (Cont.)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591289" y="2985289"/>
            <a:ext cx="1030097" cy="10992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69727" y="4090899"/>
            <a:ext cx="1951659" cy="132304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Brace 9"/>
          <p:cNvSpPr/>
          <p:nvPr/>
        </p:nvSpPr>
        <p:spPr>
          <a:xfrm>
            <a:off x="3163096" y="1952802"/>
            <a:ext cx="221513" cy="54109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21386" y="3994046"/>
            <a:ext cx="96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MVA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71" y="3016201"/>
            <a:ext cx="2340904" cy="14860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6646704" y="4605654"/>
            <a:ext cx="767750" cy="21905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7450666" y="4605654"/>
            <a:ext cx="767750" cy="21905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878" y="5563123"/>
            <a:ext cx="5876464" cy="60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ounded Rectangle 21"/>
          <p:cNvSpPr/>
          <p:nvPr/>
        </p:nvSpPr>
        <p:spPr>
          <a:xfrm>
            <a:off x="5407360" y="5755026"/>
            <a:ext cx="767750" cy="21905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621386" y="5224569"/>
            <a:ext cx="17584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Bootstrapping test</a:t>
            </a:r>
          </a:p>
        </p:txBody>
      </p:sp>
    </p:spTree>
    <p:extLst>
      <p:ext uri="{BB962C8B-B14F-4D97-AF65-F5344CB8AC3E}">
        <p14:creationId xmlns:p14="http://schemas.microsoft.com/office/powerpoint/2010/main" val="18651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84" y="112809"/>
            <a:ext cx="8509103" cy="92602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cs typeface="Times New Roman" panose="02020603050405020304" pitchFamily="18" charset="0"/>
              </a:rPr>
              <a:t>Dissolution Acceptance Criteria Assessment</a:t>
            </a:r>
            <a:br>
              <a:rPr lang="en-US" sz="3600" b="1">
                <a:cs typeface="Times New Roman" panose="02020603050405020304" pitchFamily="18" charset="0"/>
              </a:rPr>
            </a:br>
            <a:r>
              <a:rPr lang="en-US" sz="3600" b="1">
                <a:cs typeface="Times New Roman" panose="02020603050405020304" pitchFamily="18" charset="0"/>
              </a:rPr>
              <a:t>Simulation </a:t>
            </a:r>
            <a:r>
              <a:rPr lang="en-US" sz="3600" b="1" dirty="0">
                <a:cs typeface="Times New Roman" panose="02020603050405020304" pitchFamily="18" charset="0"/>
              </a:rPr>
              <a:t>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670589"/>
            <a:ext cx="8509103" cy="5463384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To visualize appropriateness of a proposed/recommended acceptance criteria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To estimate the pass rate (as per USP guidelines) for a proposed/recommended acceptance criteria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Assumptions: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The dissolution data of BE/clinical batch (mean and %CV) is representative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Normal distribution of the dissolution data</a:t>
            </a:r>
          </a:p>
        </p:txBody>
      </p:sp>
    </p:spTree>
    <p:extLst>
      <p:ext uri="{BB962C8B-B14F-4D97-AF65-F5344CB8AC3E}">
        <p14:creationId xmlns:p14="http://schemas.microsoft.com/office/powerpoint/2010/main" val="42293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706" y="1160912"/>
            <a:ext cx="9144000" cy="4407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0353"/>
            <a:ext cx="8509103" cy="92602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cs typeface="Times New Roman" panose="02020603050405020304" pitchFamily="18" charset="0"/>
              </a:rPr>
              <a:t>Simulation Tool:</a:t>
            </a: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3600" b="1" dirty="0">
                <a:cs typeface="Times New Roman" panose="02020603050405020304" pitchFamily="18" charset="0"/>
              </a:rPr>
              <a:t> Immediate release formulation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www.fda.gov</a:t>
            </a:r>
          </a:p>
        </p:txBody>
      </p:sp>
      <p:sp>
        <p:nvSpPr>
          <p:cNvPr id="27" name="Oval 26"/>
          <p:cNvSpPr/>
          <p:nvPr/>
        </p:nvSpPr>
        <p:spPr>
          <a:xfrm>
            <a:off x="226621" y="2519565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234572" y="2895301"/>
            <a:ext cx="3810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216003" y="3288359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240481" y="3830060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5078" y="4272694"/>
            <a:ext cx="482496" cy="2081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Up Arrow 4"/>
          <p:cNvSpPr/>
          <p:nvPr/>
        </p:nvSpPr>
        <p:spPr>
          <a:xfrm rot="4116487">
            <a:off x="1214847" y="3338288"/>
            <a:ext cx="1185506" cy="178436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 rot="20289437">
            <a:off x="893316" y="3908711"/>
            <a:ext cx="1659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graphic presentation will change according to new sampling</a:t>
            </a:r>
          </a:p>
        </p:txBody>
      </p:sp>
    </p:spTree>
    <p:extLst>
      <p:ext uri="{BB962C8B-B14F-4D97-AF65-F5344CB8AC3E}">
        <p14:creationId xmlns:p14="http://schemas.microsoft.com/office/powerpoint/2010/main" val="354959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021" y="21718"/>
            <a:ext cx="8509103" cy="926020"/>
          </a:xfrm>
        </p:spPr>
        <p:txBody>
          <a:bodyPr>
            <a:normAutofit/>
          </a:bodyPr>
          <a:lstStyle/>
          <a:p>
            <a:r>
              <a:rPr lang="en-US" sz="3600" b="1" dirty="0"/>
              <a:t>Example: IR product (BCS Class II API)</a:t>
            </a:r>
            <a:endParaRPr lang="en-US" sz="36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248447"/>
              </p:ext>
            </p:extLst>
          </p:nvPr>
        </p:nvGraphicFramePr>
        <p:xfrm>
          <a:off x="366446" y="4326415"/>
          <a:ext cx="8229599" cy="1005840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4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1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2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3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No. of simulations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Mean release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CV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1021" y="3898312"/>
            <a:ext cx="579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acceptance criterion set at “Q=80% at 20 minutes”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035" y="985920"/>
            <a:ext cx="38862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51246" y="3753601"/>
            <a:ext cx="3124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 10        20         30         40         50         60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705" y="1734680"/>
            <a:ext cx="1555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D90 = 40.5 µm</a:t>
            </a:r>
          </a:p>
          <a:p>
            <a:endParaRPr lang="en-US" dirty="0"/>
          </a:p>
          <a:p>
            <a:r>
              <a:rPr lang="en-US" dirty="0"/>
              <a:t>D90 = 99.8 µm</a:t>
            </a:r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912599"/>
              </p:ext>
            </p:extLst>
          </p:nvPr>
        </p:nvGraphicFramePr>
        <p:xfrm>
          <a:off x="362465" y="5852160"/>
          <a:ext cx="8229599" cy="1005840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4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1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2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Pass Stage 3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No. of simulations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Mean release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CV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 (%)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98.00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1943" y="5509752"/>
            <a:ext cx="579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acceptance criterion set at “Q=80% at 30 minutes”</a:t>
            </a:r>
          </a:p>
        </p:txBody>
      </p:sp>
    </p:spTree>
    <p:extLst>
      <p:ext uri="{BB962C8B-B14F-4D97-AF65-F5344CB8AC3E}">
        <p14:creationId xmlns:p14="http://schemas.microsoft.com/office/powerpoint/2010/main" val="232485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72" y="220597"/>
            <a:ext cx="8509103" cy="9260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Simulation Tool:</a:t>
            </a:r>
            <a:br>
              <a:rPr lang="en-US" b="1" dirty="0">
                <a:cs typeface="Times New Roman" panose="02020603050405020304" pitchFamily="18" charset="0"/>
              </a:rPr>
            </a:b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/>
              <a:t>Extended release formulation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20" y="1811151"/>
            <a:ext cx="9260088" cy="2853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28" y="5225141"/>
            <a:ext cx="55721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986828" y="3847741"/>
            <a:ext cx="1195057" cy="1377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191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3" y="200430"/>
            <a:ext cx="8530492" cy="1143000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Calibri" pitchFamily="34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533" y="1225875"/>
            <a:ext cx="85233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796" y="1497995"/>
            <a:ext cx="781314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OPQ/ONDP/Division of Biopharmaceutics utilizes automation to streamline, improve efficiency and homogenize the review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Automation Tool provides: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graphical output  for dissolution profiles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automatic statistical analyses for profiles comparison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simulation to help determine clinical relevant dissolution acceptance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704" y="25251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Times New Roman" panose="02020603050405020304" pitchFamily="18" charset="0"/>
              </a:rPr>
              <a:t>Looking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90535" y="1515425"/>
            <a:ext cx="8953877" cy="669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Division of Biopharmaceutics in Office of New Drug Products continues to explore ways to establish the in vitro – in vivo link for pharmaceutical manufacturing quality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G-SRS provides a comprehensive framework, where quality specifications and corresponding clinical information can be captured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Division of Biopharmaceutics is looking for ways to leverage the power of the G-SRS framework, and develop functionalities tailored to meet the needs of quality assessment, i.e. evaluating linkage between product quality attributes and clinical performances (PK data and quality related adverse events)</a:t>
            </a:r>
          </a:p>
          <a:p>
            <a:endParaRPr lang="en-US" sz="2800" dirty="0"/>
          </a:p>
          <a:p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  <a:p>
            <a:pPr algn="just"/>
            <a:r>
              <a:rPr lang="en-US" sz="1400" b="1" dirty="0"/>
              <a:t> </a:t>
            </a:r>
          </a:p>
          <a:p>
            <a:pPr algn="just"/>
            <a:endParaRPr lang="en-US" sz="1100" dirty="0"/>
          </a:p>
          <a:p>
            <a:pPr algn="just"/>
            <a:endParaRPr lang="en-US" sz="1100" b="1" dirty="0"/>
          </a:p>
          <a:p>
            <a:pPr algn="just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387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988" y="37476"/>
            <a:ext cx="8530492" cy="1143000"/>
          </a:xfrm>
        </p:spPr>
        <p:txBody>
          <a:bodyPr>
            <a:normAutofit fontScale="90000"/>
          </a:bodyPr>
          <a:lstStyle/>
          <a:p>
            <a:r>
              <a:rPr lang="en-US" altLang="en-US" b="1" i="1" dirty="0">
                <a:latin typeface="Calibri" pitchFamily="34" charset="0"/>
                <a:cs typeface="Times New Roman" panose="02020603050405020304" pitchFamily="18" charset="0"/>
              </a:rPr>
              <a:t>Acknowledgments</a:t>
            </a:r>
            <a:br>
              <a:rPr lang="en-US" altLang="en-US" b="1" i="1" dirty="0">
                <a:latin typeface="Calibri" pitchFamily="34" charset="0"/>
                <a:cs typeface="Times New Roman" panose="02020603050405020304" pitchFamily="18" charset="0"/>
              </a:rPr>
            </a:br>
            <a:r>
              <a:rPr lang="en-US" altLang="en-US" sz="2700" b="1" i="1" dirty="0">
                <a:latin typeface="Calibri" pitchFamily="34" charset="0"/>
                <a:cs typeface="Times New Roman" panose="02020603050405020304" pitchFamily="18" charset="0"/>
              </a:rPr>
              <a:t>(arranged alphabetically by first names)</a:t>
            </a:r>
            <a:endParaRPr lang="en-US" sz="1800" b="1" i="1" dirty="0">
              <a:latin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513862" y="1276538"/>
            <a:ext cx="3820261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lvl="1" indent="0"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Leadership team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Angelica Dorantes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Giuseppe Randazzo</a:t>
            </a:r>
            <a:endParaRPr lang="en-US" altLang="en-US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Kimberly Raines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Okpo Eradiri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Paul Seo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Ramesh Sood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Scott Furness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62988" y="990355"/>
            <a:ext cx="2860458" cy="718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lvl="1" indent="0">
              <a:buNone/>
            </a:pPr>
            <a:endParaRPr lang="en-US" altLang="en-US" sz="2400" b="1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Barbara Scott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Brian Connell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Cong Wu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Dali Zhou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David Green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Gerlie Gieser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Hansong Chen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Heng Xu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Ho-Pi Lin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Jie Xue</a:t>
            </a: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8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922769" y="993882"/>
            <a:ext cx="2679388" cy="659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4165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Joan Zhao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Mei 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Min Li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Parnali Chatterjee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Poonam Delvadia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Qi Zhang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Rohit Tiwari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itchFamily="34" charset="0"/>
                <a:cs typeface="Times New Roman" panose="02020603050405020304" pitchFamily="18" charset="0"/>
              </a:rPr>
              <a:t>Yushi Feng</a:t>
            </a: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800" dirty="0">
              <a:solidFill>
                <a:schemeClr val="tx1"/>
              </a:solidFill>
              <a:latin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5213" y="1280059"/>
            <a:ext cx="20747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en-US" sz="2400" b="1" dirty="0">
                <a:latin typeface="Calibri" pitchFamily="34" charset="0"/>
                <a:cs typeface="Times New Roman" panose="02020603050405020304" pitchFamily="18" charset="0"/>
              </a:rPr>
              <a:t>Working group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15213" y="1765429"/>
            <a:ext cx="4886943" cy="476212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837971" y="1763928"/>
            <a:ext cx="2955510" cy="34689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06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78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FDA ppt template pptx</Template>
  <TotalTime>23892</TotalTime>
  <Words>631</Words>
  <Application>Microsoft Office PowerPoint</Application>
  <PresentationFormat>On-screen Show (4:3)</PresentationFormat>
  <Paragraphs>164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ＭＳ Ｐゴシック</vt:lpstr>
      <vt:lpstr>Arial</vt:lpstr>
      <vt:lpstr>Calibri</vt:lpstr>
      <vt:lpstr>Courier New</vt:lpstr>
      <vt:lpstr>Helvetica</vt:lpstr>
      <vt:lpstr>Times New Roman</vt:lpstr>
      <vt:lpstr>Wingdings</vt:lpstr>
      <vt:lpstr>Office Theme</vt:lpstr>
      <vt:lpstr>PowerPoint Presentation</vt:lpstr>
      <vt:lpstr>PowerPoint Presentation</vt:lpstr>
      <vt:lpstr>Outline</vt:lpstr>
      <vt:lpstr>FDA Pharmaceutical Quality  One Quality Voice</vt:lpstr>
      <vt:lpstr>Dissolution Test:  Crucial in Product Quality Assessment</vt:lpstr>
      <vt:lpstr>Dissolution Profiles Comparison </vt:lpstr>
      <vt:lpstr>Dissolution data input in Excel spreadsheet</vt:lpstr>
      <vt:lpstr>Dissolution Profiles Comparison (Cont.) </vt:lpstr>
      <vt:lpstr>Dissolution Profiles Comparison (Cont.)</vt:lpstr>
      <vt:lpstr>Dissolution Acceptance Criteria Assessment Simulation Tool</vt:lpstr>
      <vt:lpstr>Simulation Tool:  Immediate release formulation</vt:lpstr>
      <vt:lpstr>Example: IR product (BCS Class II API)</vt:lpstr>
      <vt:lpstr>Simulation Tool:  Extended release formulation</vt:lpstr>
      <vt:lpstr>Summary</vt:lpstr>
      <vt:lpstr>Looking Forward</vt:lpstr>
      <vt:lpstr>Acknowledgments (arranged alphabetically by first names)</vt:lpstr>
      <vt:lpstr>PowerPoint Presentation</vt:lpstr>
    </vt:vector>
  </TitlesOfParts>
  <Company>Sensis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Cory Grabow</dc:creator>
  <cp:lastModifiedBy>Lin, Ho-Pi</cp:lastModifiedBy>
  <cp:revision>284</cp:revision>
  <dcterms:created xsi:type="dcterms:W3CDTF">2015-10-02T20:33:31Z</dcterms:created>
  <dcterms:modified xsi:type="dcterms:W3CDTF">2018-11-06T15:42:59Z</dcterms:modified>
</cp:coreProperties>
</file>